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67" r:id="rId2"/>
    <p:sldId id="268" r:id="rId3"/>
    <p:sldId id="257" r:id="rId4"/>
    <p:sldId id="258" r:id="rId5"/>
    <p:sldId id="259" r:id="rId6"/>
    <p:sldId id="260" r:id="rId7"/>
    <p:sldId id="263" r:id="rId8"/>
    <p:sldId id="262" r:id="rId9"/>
    <p:sldId id="261" r:id="rId10"/>
    <p:sldId id="264" r:id="rId11"/>
    <p:sldId id="265" r:id="rId12"/>
    <p:sldId id="26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FCB89-ECC6-142E-E7EF-BABB84C19982}" v="38" dt="2026-03-12T01:43:17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93673-1813-444F-BDD1-31446B398F07}" type="datetimeFigureOut"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8BA09-DE0E-443B-A62B-31E037E587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81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55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19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80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21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66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54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6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68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74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44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67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Completed during residency (March 5-7). Residency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BA09-DE0E-443B-A62B-31E037E58779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15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7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0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6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3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1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5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2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0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9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i.com/view/yhiQJ3yqHt5MFC2dFr82/?referral_token=79ozPqlnB3F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" TargetMode="External"/><Relationship Id="rId7" Type="http://schemas.openxmlformats.org/officeDocument/2006/relationships/hyperlink" Target="https://www.ibm.com/history/ibm100/us/en/icons/deepblu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sycnet.apa.org/doiLanding?doi=10.1037%2Fh0042519" TargetMode="External"/><Relationship Id="rId5" Type="http://schemas.openxmlformats.org/officeDocument/2006/relationships/hyperlink" Target="https://academic.oup.com/mind/article-abstract/LIX/236/433/986238" TargetMode="External"/><Relationship Id="rId4" Type="http://schemas.openxmlformats.org/officeDocument/2006/relationships/hyperlink" Target="https://prezi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F5CA-6559-E952-8373-3E06F2876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latin typeface="Times New Roman"/>
                <a:cs typeface="Times New Roman"/>
              </a:rPr>
              <a:t>1.3 Discussion: </a:t>
            </a:r>
            <a:r>
              <a:rPr lang="en-US" sz="4400" kern="1200">
                <a:latin typeface="Times New Roman"/>
                <a:cs typeface="Times New Roman"/>
              </a:rPr>
              <a:t> AI &amp; ML Timelines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4865D8A-3B09-DB2A-34B3-4FAA945AE144}"/>
              </a:ext>
            </a:extLst>
          </p:cNvPr>
          <p:cNvSpPr txBox="1">
            <a:spLocks/>
          </p:cNvSpPr>
          <p:nvPr/>
        </p:nvSpPr>
        <p:spPr>
          <a:xfrm>
            <a:off x="2605653" y="2164541"/>
            <a:ext cx="6983406" cy="3795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Team 2</a:t>
            </a:r>
          </a:p>
          <a:p>
            <a:r>
              <a:rPr lang="en-US">
                <a:latin typeface="Times New Roman"/>
                <a:cs typeface="Times New Roman"/>
              </a:rPr>
              <a:t>AIML-500: Machine Learning Fundamentals</a:t>
            </a:r>
          </a:p>
          <a:p>
            <a:r>
              <a:rPr lang="en-US">
                <a:latin typeface="Times New Roman"/>
                <a:cs typeface="Times New Roman"/>
              </a:rPr>
              <a:t>Professor Antonio MK Singleton</a:t>
            </a:r>
          </a:p>
          <a:p>
            <a:r>
              <a:rPr lang="en-US">
                <a:latin typeface="Times New Roman"/>
                <a:cs typeface="Times New Roman"/>
              </a:rPr>
              <a:t>March 15, 2026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0047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CAFB-251B-3C50-D468-2CB6BD27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174D0-E3F6-8131-9895-5937DFF3E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 panose="020B0604020202020204" pitchFamily="34" charset="0"/>
            </a:pPr>
            <a:r>
              <a:rPr lang="en-US" sz="2000">
                <a:latin typeface="Times New Roman"/>
                <a:cs typeface="Times New Roman"/>
              </a:rPr>
              <a:t>Akhil Thummala</a:t>
            </a:r>
          </a:p>
          <a:p>
            <a:pPr>
              <a:buFont typeface="Arial,Sans-Serif" panose="020B0604020202020204" pitchFamily="34" charset="0"/>
            </a:pPr>
            <a:r>
              <a:rPr lang="en-US" sz="2000">
                <a:latin typeface="Times New Roman"/>
                <a:cs typeface="Times New Roman"/>
              </a:rPr>
              <a:t>Chikita Fnu</a:t>
            </a:r>
          </a:p>
          <a:p>
            <a:pPr>
              <a:buFont typeface="Arial,Sans-Serif" panose="020B0604020202020204" pitchFamily="34" charset="0"/>
            </a:pPr>
            <a:r>
              <a:rPr lang="en-US" sz="2000">
                <a:latin typeface="Times New Roman"/>
                <a:cs typeface="Times New Roman"/>
              </a:rPr>
              <a:t>Chinonyerem Obi-Egbe</a:t>
            </a:r>
          </a:p>
          <a:p>
            <a:pPr>
              <a:buFont typeface="Arial,Sans-Serif" panose="020B0604020202020204" pitchFamily="34" charset="0"/>
            </a:pPr>
            <a:r>
              <a:rPr lang="en-US" sz="2000">
                <a:latin typeface="Times New Roman"/>
                <a:cs typeface="Times New Roman"/>
              </a:rPr>
              <a:t>Dhairya Bhatt</a:t>
            </a:r>
          </a:p>
          <a:p>
            <a:pPr>
              <a:buFont typeface="Arial,Sans-Serif" panose="020B0604020202020204" pitchFamily="34" charset="0"/>
            </a:pPr>
            <a:r>
              <a:rPr lang="en-US" sz="2000">
                <a:latin typeface="Times New Roman"/>
                <a:cs typeface="Times New Roman"/>
              </a:rPr>
              <a:t>Lakshmi Narayana </a:t>
            </a:r>
            <a:r>
              <a:rPr lang="en-US" sz="2000" err="1">
                <a:latin typeface="Times New Roman"/>
                <a:cs typeface="Times New Roman"/>
              </a:rPr>
              <a:t>Bandarupali</a:t>
            </a:r>
          </a:p>
          <a:p>
            <a:pPr>
              <a:buFont typeface="Arial,Sans-Serif" panose="020B0604020202020204" pitchFamily="34" charset="0"/>
            </a:pPr>
            <a:r>
              <a:rPr lang="en-US" sz="2000">
                <a:latin typeface="Times New Roman"/>
                <a:cs typeface="Times New Roman"/>
              </a:rPr>
              <a:t>Nelly Rivera</a:t>
            </a:r>
          </a:p>
          <a:p>
            <a:pPr>
              <a:buFont typeface="Arial,Sans-Serif" panose="020B0604020202020204" pitchFamily="34" charset="0"/>
            </a:pPr>
            <a:r>
              <a:rPr lang="en-US" sz="2000">
                <a:latin typeface="Times New Roman"/>
                <a:cs typeface="Times New Roman"/>
              </a:rPr>
              <a:t>Shivang </a:t>
            </a:r>
            <a:r>
              <a:rPr lang="en-US" sz="2000" err="1">
                <a:latin typeface="Times New Roman"/>
                <a:cs typeface="Times New Roman"/>
              </a:rPr>
              <a:t>Bokolia</a:t>
            </a:r>
            <a:r>
              <a:rPr lang="en-US" sz="2000">
                <a:latin typeface="Times New Roman"/>
                <a:cs typeface="Times New Roman"/>
              </a:rPr>
              <a:t> </a:t>
            </a:r>
          </a:p>
          <a:p>
            <a:pPr>
              <a:buFont typeface="Arial,Sans-Serif" panose="020B0604020202020204" pitchFamily="34" charset="0"/>
            </a:pPr>
            <a:r>
              <a:rPr lang="en-US" sz="2000" err="1">
                <a:latin typeface="Times New Roman"/>
                <a:cs typeface="Times New Roman"/>
              </a:rPr>
              <a:t>Taoyi</a:t>
            </a:r>
            <a:r>
              <a:rPr lang="en-US" sz="2000">
                <a:latin typeface="Times New Roman"/>
                <a:cs typeface="Times New Roman"/>
              </a:rPr>
              <a:t> Chen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856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957C-25A0-5A63-D0E1-F9C431EF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81" y="-2960"/>
            <a:ext cx="10515600" cy="1325563"/>
          </a:xfrm>
        </p:spPr>
        <p:txBody>
          <a:bodyPr>
            <a:normAutofit/>
          </a:bodyPr>
          <a:lstStyle/>
          <a:p>
            <a:r>
              <a:rPr lang="en-US" sz="2900">
                <a:latin typeface="Times New Roman"/>
                <a:ea typeface="+mj-lt"/>
                <a:cs typeface="Times New Roman"/>
              </a:rPr>
              <a:t>Major Milestones in AI: A Timeline</a:t>
            </a:r>
            <a:endParaRPr lang="en-US" sz="29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F2E6F-1DD5-1FEF-E696-8F4B5C713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81" y="1250896"/>
            <a:ext cx="6770177" cy="928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latin typeface="Times New Roman"/>
                <a:ea typeface="+mn-lt"/>
                <a:cs typeface="Times New Roman"/>
              </a:rPr>
              <a:t>A chronological overview showcasing the key developments in Artificial Intelligence from its inception to recent successes.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A90450-06C8-D58B-2F03-ECF648D9DE74}"/>
              </a:ext>
            </a:extLst>
          </p:cNvPr>
          <p:cNvSpPr/>
          <p:nvPr/>
        </p:nvSpPr>
        <p:spPr>
          <a:xfrm>
            <a:off x="6457" y="2240797"/>
            <a:ext cx="12185541" cy="45913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FD4C19-7F97-7E06-12F5-D4D272D9D1DB}"/>
              </a:ext>
            </a:extLst>
          </p:cNvPr>
          <p:cNvSpPr/>
          <p:nvPr/>
        </p:nvSpPr>
        <p:spPr>
          <a:xfrm>
            <a:off x="83949" y="2247252"/>
            <a:ext cx="1717729" cy="45784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389753-0C30-2517-5065-DAEB595ADFF6}"/>
              </a:ext>
            </a:extLst>
          </p:cNvPr>
          <p:cNvSpPr/>
          <p:nvPr/>
        </p:nvSpPr>
        <p:spPr>
          <a:xfrm>
            <a:off x="1801676" y="2240794"/>
            <a:ext cx="1717729" cy="457845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06DA61-1ED3-F1C1-0585-A2DF7E6B869B}"/>
              </a:ext>
            </a:extLst>
          </p:cNvPr>
          <p:cNvSpPr/>
          <p:nvPr/>
        </p:nvSpPr>
        <p:spPr>
          <a:xfrm>
            <a:off x="3519406" y="2240794"/>
            <a:ext cx="1717729" cy="45784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491714-7623-6637-2468-26BFE8542B4C}"/>
              </a:ext>
            </a:extLst>
          </p:cNvPr>
          <p:cNvSpPr/>
          <p:nvPr/>
        </p:nvSpPr>
        <p:spPr>
          <a:xfrm>
            <a:off x="6954864" y="2240794"/>
            <a:ext cx="1717729" cy="45784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B0E2E3-32D6-4E2D-B6FA-9BBC7FDA1EE6}"/>
              </a:ext>
            </a:extLst>
          </p:cNvPr>
          <p:cNvSpPr/>
          <p:nvPr/>
        </p:nvSpPr>
        <p:spPr>
          <a:xfrm>
            <a:off x="5237134" y="2253709"/>
            <a:ext cx="1717729" cy="457845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50E837-0843-394E-5434-A86E5211EF29}"/>
              </a:ext>
            </a:extLst>
          </p:cNvPr>
          <p:cNvSpPr/>
          <p:nvPr/>
        </p:nvSpPr>
        <p:spPr>
          <a:xfrm>
            <a:off x="10390321" y="2240793"/>
            <a:ext cx="1717729" cy="45784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DBB07F-9FD9-56CD-C1F1-0D1ACF213B47}"/>
              </a:ext>
            </a:extLst>
          </p:cNvPr>
          <p:cNvSpPr/>
          <p:nvPr/>
        </p:nvSpPr>
        <p:spPr>
          <a:xfrm>
            <a:off x="8672593" y="2253708"/>
            <a:ext cx="1717729" cy="457845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B003EE-CE5F-C700-9D9F-7DA4CEA14D24}"/>
              </a:ext>
            </a:extLst>
          </p:cNvPr>
          <p:cNvSpPr/>
          <p:nvPr/>
        </p:nvSpPr>
        <p:spPr>
          <a:xfrm>
            <a:off x="83948" y="2557217"/>
            <a:ext cx="1717729" cy="11042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cs typeface="Times New Roman"/>
              </a:rPr>
              <a:t>1950s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B2CCDD-5C1E-4346-12F1-1DB52327385B}"/>
              </a:ext>
            </a:extLst>
          </p:cNvPr>
          <p:cNvSpPr/>
          <p:nvPr/>
        </p:nvSpPr>
        <p:spPr>
          <a:xfrm>
            <a:off x="1801676" y="2557216"/>
            <a:ext cx="1717729" cy="110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cs typeface="Times New Roman"/>
              </a:rPr>
              <a:t>1960s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5E92DE-494C-DCC7-68A4-6132E1A26C05}"/>
              </a:ext>
            </a:extLst>
          </p:cNvPr>
          <p:cNvSpPr/>
          <p:nvPr/>
        </p:nvSpPr>
        <p:spPr>
          <a:xfrm>
            <a:off x="8679049" y="2557216"/>
            <a:ext cx="1717729" cy="110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cs typeface="Times New Roman"/>
              </a:rPr>
              <a:t>2000s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5168E7-71E0-1317-02C9-63BE0D07687B}"/>
              </a:ext>
            </a:extLst>
          </p:cNvPr>
          <p:cNvSpPr/>
          <p:nvPr/>
        </p:nvSpPr>
        <p:spPr>
          <a:xfrm>
            <a:off x="6961321" y="2576589"/>
            <a:ext cx="1717729" cy="11042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cs typeface="Times New Roman"/>
              </a:rPr>
              <a:t>1990s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643D1B-E4AD-3A95-E030-1291A1D34191}"/>
              </a:ext>
            </a:extLst>
          </p:cNvPr>
          <p:cNvSpPr/>
          <p:nvPr/>
        </p:nvSpPr>
        <p:spPr>
          <a:xfrm>
            <a:off x="5243592" y="2576590"/>
            <a:ext cx="1717729" cy="110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cs typeface="Times New Roman"/>
              </a:rPr>
              <a:t>1980s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1CC150-CE1F-E384-DD7D-975CED9AF5A2}"/>
              </a:ext>
            </a:extLst>
          </p:cNvPr>
          <p:cNvSpPr/>
          <p:nvPr/>
        </p:nvSpPr>
        <p:spPr>
          <a:xfrm>
            <a:off x="3519405" y="2576589"/>
            <a:ext cx="1717729" cy="11042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cs typeface="Times New Roman"/>
              </a:rPr>
              <a:t>1970s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3E280A3-C78B-8BA6-4374-B72D61A94ECD}"/>
              </a:ext>
            </a:extLst>
          </p:cNvPr>
          <p:cNvSpPr/>
          <p:nvPr/>
        </p:nvSpPr>
        <p:spPr>
          <a:xfrm>
            <a:off x="10390320" y="2557216"/>
            <a:ext cx="1717729" cy="11042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cs typeface="Times New Roman"/>
              </a:rPr>
              <a:t>2010s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921378-2CC1-6C3D-18BF-F3FC95AEA294}"/>
              </a:ext>
            </a:extLst>
          </p:cNvPr>
          <p:cNvSpPr txBox="1"/>
          <p:nvPr/>
        </p:nvSpPr>
        <p:spPr>
          <a:xfrm>
            <a:off x="96864" y="4339525"/>
            <a:ext cx="16854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The Birth of 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F4CA94-45FB-0D0E-B27E-E14FB2A35714}"/>
              </a:ext>
            </a:extLst>
          </p:cNvPr>
          <p:cNvSpPr txBox="1"/>
          <p:nvPr/>
        </p:nvSpPr>
        <p:spPr>
          <a:xfrm>
            <a:off x="1814592" y="4352439"/>
            <a:ext cx="16854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The Rise of AI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5C1F9-975F-5DAE-E01C-C035E8923774}"/>
              </a:ext>
            </a:extLst>
          </p:cNvPr>
          <p:cNvSpPr txBox="1"/>
          <p:nvPr/>
        </p:nvSpPr>
        <p:spPr>
          <a:xfrm>
            <a:off x="3519405" y="4352439"/>
            <a:ext cx="16854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The AI Winter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14EB7E-32E3-87FB-9128-F04460FDA093}"/>
              </a:ext>
            </a:extLst>
          </p:cNvPr>
          <p:cNvSpPr txBox="1"/>
          <p:nvPr/>
        </p:nvSpPr>
        <p:spPr>
          <a:xfrm>
            <a:off x="5256508" y="4339525"/>
            <a:ext cx="168543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Expert Systems Rise &amp; AI Winter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338426-FDD4-35C0-DD25-1859183F7F7B}"/>
              </a:ext>
            </a:extLst>
          </p:cNvPr>
          <p:cNvSpPr txBox="1"/>
          <p:nvPr/>
        </p:nvSpPr>
        <p:spPr>
          <a:xfrm>
            <a:off x="6954864" y="4339525"/>
            <a:ext cx="16854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AI Gaming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D90BCB-6518-A40B-E8E1-8E93B15B425D}"/>
              </a:ext>
            </a:extLst>
          </p:cNvPr>
          <p:cNvSpPr txBox="1"/>
          <p:nvPr/>
        </p:nvSpPr>
        <p:spPr>
          <a:xfrm>
            <a:off x="8672593" y="4339524"/>
            <a:ext cx="168543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AI saw significant changes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0A26EA-E2A4-3376-7B34-99F4D626C5A3}"/>
              </a:ext>
            </a:extLst>
          </p:cNvPr>
          <p:cNvSpPr txBox="1"/>
          <p:nvPr/>
        </p:nvSpPr>
        <p:spPr>
          <a:xfrm>
            <a:off x="10390321" y="4339524"/>
            <a:ext cx="16854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Deep Learning Revolution</a:t>
            </a:r>
          </a:p>
        </p:txBody>
      </p:sp>
    </p:spTree>
    <p:extLst>
      <p:ext uri="{BB962C8B-B14F-4D97-AF65-F5344CB8AC3E}">
        <p14:creationId xmlns:p14="http://schemas.microsoft.com/office/powerpoint/2010/main" val="292284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7FB5-CC3C-69F3-C705-177811B8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1950s: The Birth of AI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280E6-C4EA-1804-454A-C8C13706D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1950 – 1951: Alan Turing introduces the Turing Test which evaluated the possibility of machines to behave like humans. Early AI game programs were created for chess and checkers.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1955-1956: The term “Artificial Intelligence” is coined as a research discipline at a conference at Dartmouth College.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1957 – 1959: Machine learning research emerges with Perceptron, John McCarthy creates an AI specific programming language and Arthur Samuel coins the term “Machine Learning”.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641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D082C-AFA5-1240-E67A-EAE54BFA9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36E6-BD5D-3BCC-70DD-886A3F25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1960s: The Rise of Artificial Intelligence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E1A58-86D4-4AAE-1FED-59FA1EA12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Universities started serious AI research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Creation of early problem-solving programs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First chatbot (ELIZA)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First intelligent robot (Shakey)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14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308F9-8F60-AD49-DD25-984E4D17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1D9D-2053-716C-66D0-D9553580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1970s: The AI Winter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A8E9-5124-0A89-302F-09808F57A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11" y="1451429"/>
            <a:ext cx="10685689" cy="5181372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2900" b="1">
                <a:ea typeface="+mn-lt"/>
                <a:cs typeface="+mn-lt"/>
              </a:rPr>
              <a:t>Technological Limitations</a:t>
            </a:r>
          </a:p>
          <a:p>
            <a:pPr marL="0" indent="0">
              <a:buNone/>
            </a:pPr>
            <a:r>
              <a:rPr lang="en-US" sz="2900">
                <a:ea typeface="+mn-lt"/>
                <a:cs typeface="+mn-lt"/>
              </a:rPr>
              <a:t>In the early stages of artificial intelligence development, computers had very limited processing power; and memory capacity compared to modern standards (Russell &amp; Norvig, 2021).</a:t>
            </a:r>
          </a:p>
          <a:p>
            <a:pPr marL="0" indent="0">
              <a:buNone/>
            </a:pPr>
            <a:endParaRPr lang="en-US">
              <a:latin typeface="Aptos"/>
              <a:ea typeface="+mn-lt"/>
              <a:cs typeface="Times New Roman"/>
            </a:endParaRPr>
          </a:p>
          <a:p>
            <a:r>
              <a:rPr lang="en-US" sz="2900" b="1">
                <a:ea typeface="+mn-lt"/>
                <a:cs typeface="+mn-lt"/>
              </a:rPr>
              <a:t>Expert Systems: 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Expert systems were designed to simulate the reasoning of human experts in specific fields (Russell &amp; </a:t>
            </a:r>
            <a:r>
              <a:rPr lang="en-US" sz="2900">
                <a:ea typeface="+mn-lt"/>
                <a:cs typeface="+mn-lt"/>
              </a:rPr>
              <a:t>Norvig, 2021).</a:t>
            </a:r>
          </a:p>
          <a:p>
            <a:pPr marL="0" indent="0">
              <a:buNone/>
            </a:pPr>
            <a:r>
              <a:rPr lang="en-US" sz="2900">
                <a:ea typeface="+mn-lt"/>
                <a:cs typeface="+mn-lt"/>
              </a:rPr>
              <a:t>MYCIN (1972-1978) was developed at Stanford University. MYCIN was designed to diagnose bacterial</a:t>
            </a:r>
          </a:p>
          <a:p>
            <a:pPr marL="0" indent="0">
              <a:buNone/>
            </a:pPr>
            <a:r>
              <a:rPr lang="en-US" sz="2900">
                <a:ea typeface="+mn-lt"/>
                <a:cs typeface="+mn-lt"/>
              </a:rPr>
              <a:t>infections and recommend antibiotics.</a:t>
            </a:r>
          </a:p>
          <a:p>
            <a:pPr marL="0" indent="0">
              <a:buNone/>
            </a:pPr>
            <a:endParaRPr lang="en-US" sz="2900">
              <a:ea typeface="+mn-lt"/>
              <a:cs typeface="+mn-lt"/>
            </a:endParaRPr>
          </a:p>
          <a:p>
            <a:r>
              <a:rPr lang="en-US" sz="2900" b="1">
                <a:ea typeface="+mn-lt"/>
                <a:cs typeface="+mn-lt"/>
              </a:rPr>
              <a:t>AI Winter</a:t>
            </a:r>
          </a:p>
          <a:p>
            <a:pPr marL="0" indent="0">
              <a:buNone/>
            </a:pPr>
            <a:r>
              <a:rPr lang="en-US" sz="2900">
                <a:ea typeface="+mn-lt"/>
                <a:cs typeface="+mn-lt"/>
              </a:rPr>
              <a:t>In which funding and interest in AI research were significantly reduced due to unmet expectations and technological limitations (Russell &amp; Norvig, 2021).</a:t>
            </a:r>
          </a:p>
          <a:p>
            <a:pPr marL="0" indent="0">
              <a:buNone/>
            </a:pPr>
            <a:endParaRPr lang="en-US" b="1">
              <a:latin typeface="Times New Roman"/>
              <a:cs typeface="Times New Roman"/>
            </a:endParaRPr>
          </a:p>
          <a:p>
            <a:r>
              <a:rPr lang="en-US" sz="2900" b="1">
                <a:ea typeface="+mn-lt"/>
                <a:cs typeface="+mn-lt"/>
              </a:rPr>
              <a:t>Important Advances</a:t>
            </a:r>
          </a:p>
          <a:p>
            <a:pPr marL="0" indent="0">
              <a:buNone/>
            </a:pPr>
            <a:r>
              <a:rPr lang="en-US">
                <a:latin typeface="Times New Roman"/>
                <a:cs typeface="Times New Roman"/>
              </a:rPr>
              <a:t> </a:t>
            </a:r>
            <a:r>
              <a:rPr lang="en-US" sz="2900">
                <a:ea typeface="+mn-lt"/>
                <a:cs typeface="+mn-lt"/>
              </a:rPr>
              <a:t>Techniques such as frames, semantic networks, and rule-based systems were developed to structure knowledge and enable machines to perform reasoning tasks (Russell &amp; Norvig, 2021).</a:t>
            </a:r>
          </a:p>
          <a:p>
            <a:pPr marL="0" indent="0">
              <a:buNone/>
            </a:pPr>
            <a:endParaRPr lang="en-US" sz="29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89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478F4-3B30-DCA6-8916-4F448191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D8A6-219D-D4A0-632E-7FC2AA21B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1980s: Expert Systems Rise &amp; AI Winter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0445A-A456-1871-397D-B9914DF87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2888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1980–1987 – Expert Systems Boom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Expert systems used rule-based logic to mimic human experts.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Examples: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MYCIN – Medical diagnosis system.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XCON – Used by Digital Equipment Corporation.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Companies began heavily investing in AI technology.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DA8FCD-ED45-D76D-B94D-E53B952FC48E}"/>
              </a:ext>
            </a:extLst>
          </p:cNvPr>
          <p:cNvSpPr txBox="1">
            <a:spLocks/>
          </p:cNvSpPr>
          <p:nvPr/>
        </p:nvSpPr>
        <p:spPr>
          <a:xfrm>
            <a:off x="6098583" y="1823042"/>
            <a:ext cx="4832888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/>
                <a:ea typeface="+mn-lt"/>
                <a:cs typeface="Times New Roman"/>
              </a:rPr>
              <a:t>1987–1993 – Second AI Winter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Causes: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Expert systems were expensive to maintain.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Collapse of LISP machine companies.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Overhyped expectations.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Impact: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AI investment dropped dramatically.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Many AI startups failed.</a:t>
            </a:r>
          </a:p>
        </p:txBody>
      </p:sp>
    </p:spTree>
    <p:extLst>
      <p:ext uri="{BB962C8B-B14F-4D97-AF65-F5344CB8AC3E}">
        <p14:creationId xmlns:p14="http://schemas.microsoft.com/office/powerpoint/2010/main" val="43988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8C5D1-2E53-CA99-7CA7-EBA36B979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08C4-C1C0-A5E5-0E3D-A9CDBCD9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1990s: Second AI Winter &amp; AI in Games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6F0C3-E56C-3F3A-E67D-F54E7B7E2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The second AI winter continued until the 1993.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The 1990s marked a significant era for AI in gaming, showcasing advancements and competition: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Began implementation of path finding algorithms (Millington &amp;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Funge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2009)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In 1997,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DeepBlue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AI (by IBM) defeated Chess Grandmaster Garry </a:t>
            </a:r>
            <a:r>
              <a:rPr lang="en-US">
                <a:latin typeface="Times New Roman"/>
                <a:ea typeface="+mn-lt"/>
                <a:cs typeface="Times New Roman"/>
              </a:rPr>
              <a:t>Kasparov (IBM, n.d.)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Use of search algorithms to evaluate possible complex moves.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36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DDFF-1A2F-2BF4-68AE-24EBF470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14B5-BAD2-6614-FBE6-A2A06C0D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2000s: AI saw significant changes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508DC-BD34-7A8A-EE71-C0C59627F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96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Growth of machine learning: Large-scale dataset-learning algorithms were the main focus of AI research.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Big data and internet usage: AI was utilized by businesses like Google and Amazon to enhance online services, search, and recommendations.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Speech and language processing advancements: Improved systems for speech recognition and translation were created.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More potent computing: AI training was accelerated with the usage of GPUs.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Early deep learning research: Scholars like Geoffrey Hinton contributed to the revival of neural network research, which subsequently resulted in advances in modern AI.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048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DB8B8-5C13-490E-EB93-8F9E3DA6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2074-5D73-69C9-05EB-FAD17EF9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2010s: Deep Learning Revolution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17AC7-7F25-00E9-D27B-8D5E55BE8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2012 – </a:t>
            </a:r>
            <a:r>
              <a:rPr lang="en-US" err="1">
                <a:latin typeface="Times New Roman"/>
                <a:ea typeface="+mn-lt"/>
                <a:cs typeface="Times New Roman"/>
              </a:rPr>
              <a:t>AlexNet</a:t>
            </a:r>
            <a:r>
              <a:rPr lang="en-US">
                <a:latin typeface="Times New Roman"/>
                <a:ea typeface="+mn-lt"/>
                <a:cs typeface="Times New Roman"/>
              </a:rPr>
              <a:t> breakthrough (Deep Learning revolution)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GPU computing (Nvidia) enables massive AI training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2016 – AlphaGo beats Go champion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Big tech investment: Google, Facebook, Microsoft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3788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A24BB-DD9D-FE0C-0C25-5B280CB5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4296-09CF-789F-8E70-D70D7D8D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2020s: Recent Successes of AI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FC8BE-87E1-6A0B-EE5B-A4B5F4B9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270"/>
            <a:ext cx="10515600" cy="521020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2020 — Large Language Models Become Practical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Key milestone: release of GPT‑3 by OpenAI.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2020 — Large Language Models Become Practical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Key milestone: release of GPT‑3 by OpenAI.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2022 — Generative AI Goes Mainstream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In late 2022, ChatGPT was released by OpenAI. Within weeks it gained millions of users.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2023-Now — AI Race Among Technology Companies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Major technology companies accelerated AI development.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Examples include: GPT-4, GPT-5, Gemini, Claude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Key companies driving innovation: Google, Microsoft, Anthropic, OpenAI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AI Integrated into Business and Research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AI systems began transforming multiple industries.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Key developments include: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AI copilots integrated into business software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AI-assisted programming tools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AI-driven drug discovery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AI-assisted scientific research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Major hardware advancements from NVIDIA enabled large-scale AI training.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2901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2D81-4820-B319-AE2E-FDE1C0E4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 for </a:t>
            </a:r>
            <a:r>
              <a:rPr lang="en-US" err="1"/>
              <a:t>prezi</a:t>
            </a:r>
            <a:r>
              <a:rPr lang="en-US"/>
              <a:t>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18A5B-AA23-2A78-921A-DB6461326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3"/>
              </a:rPr>
              <a:t>https://prezi.com/view/yhiQJ3yqHt5MFC2dFr82/?referral_token=79ozPqlnB3FN</a:t>
            </a:r>
            <a:endParaRPr lang="en-US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29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3EF47-4B6F-0D15-40F5-033F345F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2E754-176A-B80D-4995-70F41148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References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40C6E-FDBC-5E76-8EEC-7EA899093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270"/>
            <a:ext cx="10515600" cy="521020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600">
                <a:ea typeface="+mn-lt"/>
                <a:cs typeface="+mn-lt"/>
              </a:rPr>
              <a:t>OpenAI. (2025). </a:t>
            </a:r>
            <a:r>
              <a:rPr lang="en-US" sz="2600" i="1">
                <a:ea typeface="+mn-lt"/>
                <a:cs typeface="+mn-lt"/>
              </a:rPr>
              <a:t>ChatGPT (Version 5.2)</a:t>
            </a:r>
            <a:r>
              <a:rPr lang="en-US" sz="2600">
                <a:ea typeface="+mn-lt"/>
                <a:cs typeface="+mn-lt"/>
              </a:rPr>
              <a:t> [Large language model]. </a:t>
            </a:r>
            <a:r>
              <a:rPr lang="en-US" sz="2600" dirty="0">
                <a:ea typeface="+mn-lt"/>
                <a:cs typeface="+mn-lt"/>
                <a:hlinkClick r:id="rId3"/>
              </a:rPr>
              <a:t>https://chat.openai.com</a:t>
            </a:r>
            <a:endParaRPr lang="en-US" sz="2600" dirty="0">
              <a:latin typeface="Times New Roman"/>
              <a:ea typeface="+mn-lt"/>
              <a:cs typeface="Times New Roman"/>
            </a:endParaRPr>
          </a:p>
          <a:p>
            <a:r>
              <a:rPr lang="en-US" sz="2600">
                <a:latin typeface="Aptos"/>
                <a:cs typeface="Times New Roman"/>
              </a:rPr>
              <a:t>Prezi Inc. (2026). Prezi [Presentation Software]. </a:t>
            </a:r>
            <a:r>
              <a:rPr lang="en-US" sz="2600" dirty="0">
                <a:latin typeface="Aptos"/>
                <a:cs typeface="Times New Roman"/>
                <a:hlinkClick r:id="rId4"/>
              </a:rPr>
              <a:t>https://prezi.com</a:t>
            </a:r>
            <a:endParaRPr lang="en-US" sz="2600" dirty="0">
              <a:latin typeface="Aptos"/>
              <a:cs typeface="Times New Roman"/>
            </a:endParaRPr>
          </a:p>
          <a:p>
            <a:r>
              <a:rPr lang="en-US" sz="2600">
                <a:latin typeface="Aptos"/>
                <a:cs typeface="Times New Roman"/>
              </a:rPr>
              <a:t>Turing, A.M. (1950). Computing machinery and Intelligence. Mind, 59(236), 433-460. </a:t>
            </a:r>
            <a:r>
              <a:rPr lang="en-US" sz="2600" dirty="0">
                <a:ea typeface="+mn-lt"/>
                <a:cs typeface="+mn-lt"/>
                <a:hlinkClick r:id="rId5"/>
              </a:rPr>
              <a:t>https://academic.oup.com/mind/article-abstract/LIX/236/433/986238</a:t>
            </a:r>
          </a:p>
          <a:p>
            <a:r>
              <a:rPr lang="en-US" sz="2600">
                <a:latin typeface="Aptos"/>
                <a:cs typeface="Times New Roman"/>
              </a:rPr>
              <a:t>McCarthy, J., Minsky, M. L., Rochester, N., &amp; Shannon, C.E. (1955). A proposal for the Dartmouth Summer Research Project on Artificial Intelligence. Dartmouth College.</a:t>
            </a:r>
          </a:p>
          <a:p>
            <a:r>
              <a:rPr lang="en-US" sz="2600">
                <a:ea typeface="+mn-lt"/>
                <a:cs typeface="Times New Roman"/>
              </a:rPr>
              <a:t>Rosenblatt, F. (1958). The perceptron: A probabilistic model for information storage and organization in the brain. Psychological Review, 65(6), 386–408. </a:t>
            </a:r>
            <a:r>
              <a:rPr lang="en-US" sz="2600" dirty="0">
                <a:ea typeface="+mn-lt"/>
                <a:cs typeface="+mn-lt"/>
                <a:hlinkClick r:id="rId6"/>
              </a:rPr>
              <a:t>https://psycnet.apa.org/doiLanding?doi=10.1037%2Fh0042519</a:t>
            </a:r>
            <a:endParaRPr lang="en-US" sz="2600" dirty="0">
              <a:latin typeface="Aptos"/>
              <a:cs typeface="Times New Roman"/>
            </a:endParaRPr>
          </a:p>
          <a:p>
            <a:r>
              <a:rPr lang="en-US" sz="2600">
                <a:ea typeface="+mn-lt"/>
                <a:cs typeface="Times New Roman"/>
              </a:rPr>
              <a:t>Russell, S., &amp; Norvig, P. (2021). Artificial intelligence: A modern approach (4th ed.). Pearson.</a:t>
            </a:r>
          </a:p>
          <a:p>
            <a:r>
              <a:rPr lang="en-US" sz="2600">
                <a:ea typeface="+mn-lt"/>
                <a:cs typeface="+mn-lt"/>
              </a:rPr>
              <a:t>IBM. (n.d.). Deep Blue. IBM Research. </a:t>
            </a:r>
            <a:r>
              <a:rPr lang="en-US" sz="2600" dirty="0">
                <a:ea typeface="+mn-lt"/>
                <a:cs typeface="+mn-lt"/>
                <a:hlinkClick r:id="rId7"/>
              </a:rPr>
              <a:t>https://www.ibm.com/history/ibm100/us/en/icons/deepblue</a:t>
            </a:r>
            <a:endParaRPr lang="en-US" sz="2600" dirty="0">
              <a:ea typeface="+mn-lt"/>
              <a:cs typeface="Times New Roman"/>
            </a:endParaRPr>
          </a:p>
          <a:p>
            <a:r>
              <a:rPr lang="en-US" sz="2600" dirty="0">
                <a:ea typeface="+mn-lt"/>
                <a:cs typeface="Times New Roman"/>
              </a:rPr>
              <a:t>Ian Millington, &amp; John </a:t>
            </a:r>
            <a:r>
              <a:rPr lang="en-US" sz="2600" dirty="0" err="1">
                <a:ea typeface="+mn-lt"/>
                <a:cs typeface="Times New Roman"/>
              </a:rPr>
              <a:t>Funge</a:t>
            </a:r>
            <a:r>
              <a:rPr lang="en-US" sz="2600" dirty="0">
                <a:ea typeface="+mn-lt"/>
                <a:cs typeface="Times New Roman"/>
              </a:rPr>
              <a:t>. (2009). Artificial intelligence for games. CRC Press.</a:t>
            </a:r>
            <a:endParaRPr lang="en-US" sz="2600" dirty="0"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1.3 Discussion:  AI &amp; ML Timelines</vt:lpstr>
      <vt:lpstr>Team Members</vt:lpstr>
      <vt:lpstr>Major Milestones in AI: A Timeline</vt:lpstr>
      <vt:lpstr>1950s: The Birth of AI</vt:lpstr>
      <vt:lpstr>1960s: The Rise of Artificial Intelligence</vt:lpstr>
      <vt:lpstr>1970s: The AI Winter</vt:lpstr>
      <vt:lpstr>1980s: Expert Systems Rise &amp; AI Winter</vt:lpstr>
      <vt:lpstr>1990s: Second AI Winter &amp; AI in Games</vt:lpstr>
      <vt:lpstr>2000s: AI saw significant changes</vt:lpstr>
      <vt:lpstr>2010s: Deep Learning Revolution</vt:lpstr>
      <vt:lpstr>2020s: Recent Successes of AI</vt:lpstr>
      <vt:lpstr>Link for prezi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</cp:revision>
  <dcterms:created xsi:type="dcterms:W3CDTF">2026-03-06T16:22:48Z</dcterms:created>
  <dcterms:modified xsi:type="dcterms:W3CDTF">2026-03-13T01:27:16Z</dcterms:modified>
</cp:coreProperties>
</file>